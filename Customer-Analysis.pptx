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mfortaa Bold"/>
      <p:regular r:id="rId17"/>
    </p:embeddedFont>
    <p:embeddedFont>
      <p:font typeface="Raleway Medium"/>
      <p:regular r:id="rId18"/>
    </p:embeddedFont>
    <p:embeddedFont>
      <p:font typeface="Raleway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886471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546524"/>
            <a:ext cx="5092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Analyst Project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[Student Name] · [College Name]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023" y="2966963"/>
            <a:ext cx="695102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6" name="Text 3"/>
          <p:cNvSpPr/>
          <p:nvPr/>
        </p:nvSpPr>
        <p:spPr>
          <a:xfrm>
            <a:off x="632594" y="3013249"/>
            <a:ext cx="967160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PYTHON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312218" y="2966963"/>
            <a:ext cx="985689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8" name="Text 5"/>
          <p:cNvSpPr/>
          <p:nvPr/>
        </p:nvSpPr>
        <p:spPr>
          <a:xfrm>
            <a:off x="1404789" y="3013249"/>
            <a:ext cx="125774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74999" y="2966963"/>
            <a:ext cx="676945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10" name="Text 7"/>
          <p:cNvSpPr/>
          <p:nvPr/>
        </p:nvSpPr>
        <p:spPr>
          <a:xfrm>
            <a:off x="2467570" y="3013249"/>
            <a:ext cx="94900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PANDAS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29037" y="2966963"/>
            <a:ext cx="782241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12" name="Text 9"/>
          <p:cNvSpPr/>
          <p:nvPr/>
        </p:nvSpPr>
        <p:spPr>
          <a:xfrm>
            <a:off x="3221608" y="3013249"/>
            <a:ext cx="105429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 BI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421" y="444401"/>
            <a:ext cx="4736157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Understanding Customer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18421" y="1411337"/>
            <a:ext cx="4736157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 analysis is the systematic process of examining customer data to uncover purchasing patterns, preferences, and behaviors. In today's competitive market, businesses that understand their customers gain a decisive advantage.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18421" y="2406625"/>
            <a:ext cx="2304678" cy="1189434"/>
          </a:xfrm>
          <a:prstGeom prst="roundRect">
            <a:avLst>
              <a:gd name="adj" fmla="val 17635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4058245" y="2546449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8245" y="2816647"/>
            <a:ext cx="2025030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Reveals who buys, what they buy, and when — enabling targeted strategies.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49826" y="2406625"/>
            <a:ext cx="2304752" cy="1189434"/>
          </a:xfrm>
          <a:prstGeom prst="roundRect">
            <a:avLst>
              <a:gd name="adj" fmla="val 17635"/>
            </a:avLst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6489650" y="2546449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9650" y="2816647"/>
            <a:ext cx="2025104" cy="6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Drives personalized marketing, improves retention, and boosts revenue.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18421" y="3722787"/>
            <a:ext cx="4736157" cy="976238"/>
          </a:xfrm>
          <a:prstGeom prst="roundRect">
            <a:avLst>
              <a:gd name="adj" fmla="val 21486"/>
            </a:avLst>
          </a:prstGeom>
          <a:solidFill>
            <a:srgbClr val="46464A"/>
          </a:solidFill>
          <a:ln/>
        </p:spPr>
      </p:sp>
      <p:sp>
        <p:nvSpPr>
          <p:cNvPr id="12" name="Text 9"/>
          <p:cNvSpPr/>
          <p:nvPr/>
        </p:nvSpPr>
        <p:spPr>
          <a:xfrm>
            <a:off x="4058245" y="3862611"/>
            <a:ext cx="1553766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Core Goal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58245" y="4132808"/>
            <a:ext cx="4456509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Transform raw transaction data into actionable business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109" y="380479"/>
            <a:ext cx="4953000" cy="334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Problem Statement &amp; Objectives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109" y="962471"/>
            <a:ext cx="4702969" cy="2664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6925" y="1603995"/>
            <a:ext cx="17966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76925" y="1865561"/>
            <a:ext cx="2396654" cy="858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Businesses struggle to interpret raw customer data, making it difficult to identify high-value customers, understand sales trends, and measure the true impact of discounts on purchasing behavior.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876925" y="2818433"/>
            <a:ext cx="1796653" cy="16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Objectives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279" y="3845235"/>
            <a:ext cx="180826" cy="180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6899" y="3839245"/>
            <a:ext cx="3246239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Analyze customer purchasing behavior across demographics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6031" y="3845235"/>
            <a:ext cx="180826" cy="1808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2652" y="3839245"/>
            <a:ext cx="3246239" cy="343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Identify top-performing customers and product categories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279" y="4401257"/>
            <a:ext cx="180826" cy="1808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66899" y="4395267"/>
            <a:ext cx="3246239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Measure the impact of discounts on sales volume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76031" y="4401257"/>
            <a:ext cx="180826" cy="18082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2652" y="4395267"/>
            <a:ext cx="3246239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Generate actionable, data-driven business insights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537270"/>
            <a:ext cx="439682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 &amp; Technologies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6313" y="1278062"/>
            <a:ext cx="3200995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Dataset: 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i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customer-behaviour.csv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6313" y="1614562"/>
            <a:ext cx="3889251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structured dataset capturing real-world purchasing transactions across seven key dimensions: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6313" y="2185020"/>
            <a:ext cx="3889251" cy="158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Customer ID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Gender &amp; Age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Purchase Amount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Category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Discount Applied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6313" y="3889325"/>
            <a:ext cx="3889251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preprocessing ensured quality before loading into PostgreSQL.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3198" y="1278062"/>
            <a:ext cx="20645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Technology Stack</a:t>
            </a:r>
            <a:endParaRPr lang="en-US" sz="1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3198" y="1631528"/>
            <a:ext cx="289322" cy="2893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35" y="1681237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Python &amp; Pandas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12035" y="2017737"/>
            <a:ext cx="343041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cleaning, transformation, and exploratory analysis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198" y="2737396"/>
            <a:ext cx="289322" cy="2893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35" y="2787104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PostgreSQL &amp; SQL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212035" y="3123605"/>
            <a:ext cx="3430414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Relational storage and complex analytical queries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198" y="3619054"/>
            <a:ext cx="289322" cy="2893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35" y="3668762"/>
            <a:ext cx="1786086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 BI &amp; Matplotlib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212035" y="4005263"/>
            <a:ext cx="343041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Interactive visualizations and reporting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142" y="374377"/>
            <a:ext cx="3328541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System Architecture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42" y="911870"/>
            <a:ext cx="7541642" cy="3393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8556" y="1080808"/>
            <a:ext cx="1548383" cy="18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Import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937156" y="1320110"/>
            <a:ext cx="1319783" cy="2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Raw CSV dataset ingested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13836" y="3626104"/>
            <a:ext cx="1555635" cy="18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Cleaning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42436" y="3865406"/>
            <a:ext cx="1327035" cy="2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Python scripts ensure data quality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304612" y="1055428"/>
            <a:ext cx="1548383" cy="18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Storage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33212" y="1294729"/>
            <a:ext cx="1319783" cy="2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 into PostgreSQL database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09892" y="3626104"/>
            <a:ext cx="1548383" cy="18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38492" y="3865406"/>
            <a:ext cx="1319783" cy="2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SQL queries prepare 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1142" y="4415805"/>
            <a:ext cx="7541642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end-to-end pipeline transforms raw CSV data into a polished analytics dashboard — ensuring data quality at every stage before insights reach decision-makers.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2659" y="354955"/>
            <a:ext cx="4208785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Cleaning &amp; Preprocessing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59" y="1622003"/>
            <a:ext cx="4044553" cy="2291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94834" y="817066"/>
            <a:ext cx="1692473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Preprocessing Steps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94834" y="1039416"/>
            <a:ext cx="2061121" cy="865436"/>
          </a:xfrm>
          <a:prstGeom prst="roundRect">
            <a:avLst>
              <a:gd name="adj" fmla="val 7924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80546" y="1039416"/>
            <a:ext cx="57150" cy="865436"/>
          </a:xfrm>
          <a:prstGeom prst="roundRect">
            <a:avLst>
              <a:gd name="adj" fmla="val 272109"/>
            </a:avLst>
          </a:prstGeom>
          <a:solidFill>
            <a:srgbClr val="FFE14D"/>
          </a:solidFill>
          <a:ln/>
        </p:spPr>
      </p:sp>
      <p:sp>
        <p:nvSpPr>
          <p:cNvPr id="7" name="Text 4"/>
          <p:cNvSpPr/>
          <p:nvPr/>
        </p:nvSpPr>
        <p:spPr>
          <a:xfrm>
            <a:off x="5855643" y="1157362"/>
            <a:ext cx="115193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Null Value Removal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55643" y="1371005"/>
            <a:ext cx="1782366" cy="4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Rows with missing critical fields were identified and removed to ensure data integrity.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694834" y="1974503"/>
            <a:ext cx="2061121" cy="865436"/>
          </a:xfrm>
          <a:prstGeom prst="roundRect">
            <a:avLst>
              <a:gd name="adj" fmla="val 7924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80546" y="1974503"/>
            <a:ext cx="57150" cy="865436"/>
          </a:xfrm>
          <a:prstGeom prst="roundRect">
            <a:avLst>
              <a:gd name="adj" fmla="val 272109"/>
            </a:avLst>
          </a:prstGeom>
          <a:solidFill>
            <a:srgbClr val="FFE14D"/>
          </a:solidFill>
          <a:ln/>
        </p:spPr>
      </p:sp>
      <p:sp>
        <p:nvSpPr>
          <p:cNvPr id="11" name="Text 8"/>
          <p:cNvSpPr/>
          <p:nvPr/>
        </p:nvSpPr>
        <p:spPr>
          <a:xfrm>
            <a:off x="5855643" y="2092449"/>
            <a:ext cx="147778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Column Standardization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55643" y="2306092"/>
            <a:ext cx="1782366" cy="4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Columns were renamed for consistency and readability across the analysis.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94834" y="2909590"/>
            <a:ext cx="2061121" cy="865436"/>
          </a:xfrm>
          <a:prstGeom prst="roundRect">
            <a:avLst>
              <a:gd name="adj" fmla="val 7924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0546" y="2909590"/>
            <a:ext cx="57150" cy="865436"/>
          </a:xfrm>
          <a:prstGeom prst="roundRect">
            <a:avLst>
              <a:gd name="adj" fmla="val 272109"/>
            </a:avLst>
          </a:prstGeom>
          <a:solidFill>
            <a:srgbClr val="FFE14D"/>
          </a:solidFill>
          <a:ln/>
        </p:spPr>
      </p:sp>
      <p:sp>
        <p:nvSpPr>
          <p:cNvPr id="15" name="Text 12"/>
          <p:cNvSpPr/>
          <p:nvPr/>
        </p:nvSpPr>
        <p:spPr>
          <a:xfrm>
            <a:off x="5855643" y="3027536"/>
            <a:ext cx="1180133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Duplicate Handling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5643" y="3241179"/>
            <a:ext cx="1782366" cy="4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Duplicate records were detected and eliminated to prevent skewed results.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694834" y="3844677"/>
            <a:ext cx="2061121" cy="865436"/>
          </a:xfrm>
          <a:prstGeom prst="roundRect">
            <a:avLst>
              <a:gd name="adj" fmla="val 7924"/>
            </a:avLst>
          </a:prstGeom>
          <a:solidFill>
            <a:srgbClr val="27272B"/>
          </a:solidFill>
          <a:ln w="14288">
            <a:solidFill>
              <a:srgbClr val="5F5F6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80546" y="3844677"/>
            <a:ext cx="57150" cy="865436"/>
          </a:xfrm>
          <a:prstGeom prst="roundRect">
            <a:avLst>
              <a:gd name="adj" fmla="val 272109"/>
            </a:avLst>
          </a:prstGeom>
          <a:solidFill>
            <a:srgbClr val="FFE14D"/>
          </a:solidFill>
          <a:ln/>
        </p:spPr>
      </p:sp>
      <p:sp>
        <p:nvSpPr>
          <p:cNvPr id="19" name="Text 16"/>
          <p:cNvSpPr/>
          <p:nvPr/>
        </p:nvSpPr>
        <p:spPr>
          <a:xfrm>
            <a:off x="5855643" y="3962623"/>
            <a:ext cx="131638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Type Conversion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5643" y="4176266"/>
            <a:ext cx="1782366" cy="4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Numeric and categorical fields were cast to appropriate types before PostgreSQL upload.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830" y="438522"/>
            <a:ext cx="4352032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SQL Queries &amp; Analysis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7830" y="1095896"/>
            <a:ext cx="8605540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analytical queries executed in PostgreSQL to extract meaningful business insights from the cleaned dataset.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7830" y="1462088"/>
            <a:ext cx="4008611" cy="1555849"/>
          </a:xfrm>
          <a:prstGeom prst="roundRect">
            <a:avLst>
              <a:gd name="adj" fmla="val 13714"/>
            </a:avLst>
          </a:prstGeom>
          <a:solidFill>
            <a:srgbClr val="4646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35" y="1604293"/>
            <a:ext cx="426690" cy="426690"/>
          </a:xfrm>
          <a:prstGeom prst="roundRect">
            <a:avLst>
              <a:gd name="adj" fmla="val 13392459"/>
            </a:avLst>
          </a:prstGeom>
          <a:solidFill>
            <a:srgbClr val="FFE1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386" y="1721569"/>
            <a:ext cx="191988" cy="1919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35" y="2162101"/>
            <a:ext cx="2175421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Average Purchase Amount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35" y="2438326"/>
            <a:ext cx="3724201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Computed mean spend per customer segment to gauge purchasing power.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37559" y="1462088"/>
            <a:ext cx="4008611" cy="1555849"/>
          </a:xfrm>
          <a:prstGeom prst="roundRect">
            <a:avLst>
              <a:gd name="adj" fmla="val 13714"/>
            </a:avLst>
          </a:prstGeom>
          <a:solidFill>
            <a:srgbClr val="46464A"/>
          </a:solidFill>
          <a:ln/>
        </p:spPr>
      </p:sp>
      <p:sp>
        <p:nvSpPr>
          <p:cNvPr id="10" name="Shape 7"/>
          <p:cNvSpPr/>
          <p:nvPr/>
        </p:nvSpPr>
        <p:spPr>
          <a:xfrm>
            <a:off x="4779764" y="1604293"/>
            <a:ext cx="426690" cy="426690"/>
          </a:xfrm>
          <a:prstGeom prst="roundRect">
            <a:avLst>
              <a:gd name="adj" fmla="val 13392459"/>
            </a:avLst>
          </a:prstGeom>
          <a:solidFill>
            <a:srgbClr val="FFE1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7115" y="1721569"/>
            <a:ext cx="191988" cy="1919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9764" y="2162101"/>
            <a:ext cx="1771799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Gender-Wise Revenue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9764" y="2438326"/>
            <a:ext cx="3724201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Aggregated total revenue by gender to identify spending patterns.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7830" y="3149054"/>
            <a:ext cx="4008611" cy="1555849"/>
          </a:xfrm>
          <a:prstGeom prst="roundRect">
            <a:avLst>
              <a:gd name="adj" fmla="val 13714"/>
            </a:avLst>
          </a:prstGeom>
          <a:solidFill>
            <a:srgbClr val="46464A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35" y="3291260"/>
            <a:ext cx="426690" cy="426690"/>
          </a:xfrm>
          <a:prstGeom prst="roundRect">
            <a:avLst>
              <a:gd name="adj" fmla="val 13392459"/>
            </a:avLst>
          </a:prstGeom>
          <a:solidFill>
            <a:srgbClr val="FFE1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386" y="3408536"/>
            <a:ext cx="191988" cy="1919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35" y="3849067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Discount Impact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35" y="4125292"/>
            <a:ext cx="3724201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Compared purchase volumes with and without discounts applied.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37559" y="3149054"/>
            <a:ext cx="4008611" cy="1555849"/>
          </a:xfrm>
          <a:prstGeom prst="roundRect">
            <a:avLst>
              <a:gd name="adj" fmla="val 13714"/>
            </a:avLst>
          </a:prstGeom>
          <a:solidFill>
            <a:srgbClr val="46464A"/>
          </a:solidFill>
          <a:ln/>
        </p:spPr>
      </p:sp>
      <p:sp>
        <p:nvSpPr>
          <p:cNvPr id="20" name="Shape 15"/>
          <p:cNvSpPr/>
          <p:nvPr/>
        </p:nvSpPr>
        <p:spPr>
          <a:xfrm>
            <a:off x="4779764" y="3291260"/>
            <a:ext cx="426690" cy="426690"/>
          </a:xfrm>
          <a:prstGeom prst="roundRect">
            <a:avLst>
              <a:gd name="adj" fmla="val 13392459"/>
            </a:avLst>
          </a:prstGeom>
          <a:solidFill>
            <a:srgbClr val="FFE14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7115" y="3408536"/>
            <a:ext cx="191988" cy="1919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79764" y="3849067"/>
            <a:ext cx="1580555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Categories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79764" y="4125292"/>
            <a:ext cx="3724201" cy="4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Ranked product categories by total revenue to spotlight top performers.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13159"/>
            <a:ext cx="476540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Analysis &amp; Insights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346746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327472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5906" y="1696269"/>
            <a:ext cx="38100" cy="1608609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3"/>
          <p:cNvSpPr/>
          <p:nvPr/>
        </p:nvSpPr>
        <p:spPr>
          <a:xfrm>
            <a:off x="4957316" y="1715319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Electronics Leads Revenue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57316" y="2298204"/>
            <a:ext cx="1633091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Highest-grossing category, driving over 30% of total sales.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4238" y="1696269"/>
            <a:ext cx="38100" cy="1608609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9" name="Text 6"/>
          <p:cNvSpPr/>
          <p:nvPr/>
        </p:nvSpPr>
        <p:spPr>
          <a:xfrm>
            <a:off x="6975649" y="1715319"/>
            <a:ext cx="163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Discount Sensitivity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75649" y="2298204"/>
            <a:ext cx="16330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Discounted transactions showed 18% higher purchase frequency.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45906" y="3575372"/>
            <a:ext cx="38100" cy="900485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2" name="Text 9"/>
          <p:cNvSpPr/>
          <p:nvPr/>
        </p:nvSpPr>
        <p:spPr>
          <a:xfrm>
            <a:off x="4957316" y="3594422"/>
            <a:ext cx="199005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Gender Spending Gap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57316" y="3962995"/>
            <a:ext cx="365142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Female customers contributed ~55% of total revenue on average.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2970" y="373559"/>
            <a:ext cx="4604668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Results &amp; Business Advantages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70" y="1518345"/>
            <a:ext cx="4514850" cy="25583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4910" y="911944"/>
            <a:ext cx="17430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Project Outcomes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824910" y="1170310"/>
            <a:ext cx="260375" cy="260375"/>
          </a:xfrm>
          <a:prstGeom prst="roundRect">
            <a:avLst>
              <a:gd name="adj" fmla="val 66670"/>
            </a:avLst>
          </a:prstGeom>
          <a:solidFill>
            <a:srgbClr val="46464A"/>
          </a:solidFill>
          <a:ln/>
        </p:spPr>
      </p:sp>
      <p:sp>
        <p:nvSpPr>
          <p:cNvPr id="6" name="Text 3"/>
          <p:cNvSpPr/>
          <p:nvPr/>
        </p:nvSpPr>
        <p:spPr>
          <a:xfrm>
            <a:off x="5877930" y="1204057"/>
            <a:ext cx="154260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72051" y="1210047"/>
            <a:ext cx="18978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Customer Behavior Mapped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72051" y="1457548"/>
            <a:ext cx="1953592" cy="485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Clear segmentation of customers by age, gender, and spending habits.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24910" y="2117080"/>
            <a:ext cx="260375" cy="260375"/>
          </a:xfrm>
          <a:prstGeom prst="roundRect">
            <a:avLst>
              <a:gd name="adj" fmla="val 66670"/>
            </a:avLst>
          </a:prstGeom>
          <a:solidFill>
            <a:srgbClr val="46464A"/>
          </a:solidFill>
          <a:ln/>
        </p:spPr>
      </p:sp>
      <p:sp>
        <p:nvSpPr>
          <p:cNvPr id="10" name="Text 7"/>
          <p:cNvSpPr/>
          <p:nvPr/>
        </p:nvSpPr>
        <p:spPr>
          <a:xfrm>
            <a:off x="5877930" y="2150827"/>
            <a:ext cx="154260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72051" y="2156817"/>
            <a:ext cx="16944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Top Categories Identified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051" y="2404318"/>
            <a:ext cx="1953592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Electronics and Clothing emerged as the highest-revenue segments.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24910" y="2901851"/>
            <a:ext cx="260375" cy="260375"/>
          </a:xfrm>
          <a:prstGeom prst="roundRect">
            <a:avLst>
              <a:gd name="adj" fmla="val 66670"/>
            </a:avLst>
          </a:prstGeom>
          <a:solidFill>
            <a:srgbClr val="46464A"/>
          </a:solidFill>
          <a:ln/>
        </p:spPr>
      </p:sp>
      <p:sp>
        <p:nvSpPr>
          <p:cNvPr id="14" name="Text 11"/>
          <p:cNvSpPr/>
          <p:nvPr/>
        </p:nvSpPr>
        <p:spPr>
          <a:xfrm>
            <a:off x="5877930" y="2935598"/>
            <a:ext cx="154260" cy="192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051" y="2941588"/>
            <a:ext cx="188617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Discount Strategy Validated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051" y="3189089"/>
            <a:ext cx="1953592" cy="485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Confirmed discounts drive volume — enabling smarter promotional planning.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24910" y="3772719"/>
            <a:ext cx="2300734" cy="899517"/>
          </a:xfrm>
          <a:prstGeom prst="roundRect">
            <a:avLst>
              <a:gd name="adj" fmla="val 19298"/>
            </a:avLst>
          </a:prstGeom>
          <a:solidFill>
            <a:srgbClr val="183A13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623" y="3935090"/>
            <a:ext cx="144661" cy="11571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00998" y="3888358"/>
            <a:ext cx="1808931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Advantage:</a:t>
            </a:r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Data-driven decisions replace guesswork, improving marketing ROI and revenue growth.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88" y="416421"/>
            <a:ext cx="4575423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Future Scope &amp; Conclusion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9388" y="1052661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79388" y="1357015"/>
            <a:ext cx="26037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79388" y="1563960"/>
            <a:ext cx="3833813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4"/>
          <p:cNvSpPr/>
          <p:nvPr/>
        </p:nvSpPr>
        <p:spPr>
          <a:xfrm>
            <a:off x="579388" y="1657573"/>
            <a:ext cx="227811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Machine Learning Predictions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9388" y="1948235"/>
            <a:ext cx="383381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Build models to forecast customer lifetime value and churn risk.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9388" y="2539826"/>
            <a:ext cx="26037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9388" y="2746772"/>
            <a:ext cx="3833813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0" name="Text 8"/>
          <p:cNvSpPr/>
          <p:nvPr/>
        </p:nvSpPr>
        <p:spPr>
          <a:xfrm>
            <a:off x="579388" y="2840385"/>
            <a:ext cx="189138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9388" y="3131046"/>
            <a:ext cx="383381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Personalized product recommendations based on purchase history.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9388" y="3722638"/>
            <a:ext cx="26037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9388" y="3929583"/>
            <a:ext cx="3833813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4" name="Text 12"/>
          <p:cNvSpPr/>
          <p:nvPr/>
        </p:nvSpPr>
        <p:spPr>
          <a:xfrm>
            <a:off x="579388" y="4023196"/>
            <a:ext cx="1616497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Real-Time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9388" y="4313858"/>
            <a:ext cx="3833813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Live Power BI integration for instant business monitoring.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41800" y="942826"/>
            <a:ext cx="4021336" cy="3784253"/>
          </a:xfrm>
          <a:prstGeom prst="roundRect">
            <a:avLst>
              <a:gd name="adj" fmla="val 8257"/>
            </a:avLst>
          </a:prstGeom>
          <a:solidFill>
            <a:srgbClr val="FFE14D"/>
          </a:solidFill>
          <a:ln/>
        </p:spPr>
      </p:sp>
      <p:sp>
        <p:nvSpPr>
          <p:cNvPr id="17" name="Text 15"/>
          <p:cNvSpPr/>
          <p:nvPr/>
        </p:nvSpPr>
        <p:spPr>
          <a:xfrm>
            <a:off x="4771951" y="1052661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1951" y="1343323"/>
            <a:ext cx="3761036" cy="144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7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project demonstrates the full power of a modern data analytics pipeline — from raw CSV data to actionable business intelligence. By combining Python, PostgreSQL, and Power BI, we transformed customer transaction data into clear, strategic insights.</a:t>
            </a:r>
            <a:endParaRPr lang="en-US" sz="10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 analytics is not just a tool — it's a competitive advantage.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1951" y="2942630"/>
            <a:ext cx="3761036" cy="9748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771951" y="3108424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1951" y="3399086"/>
            <a:ext cx="4218236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Questions &amp; Discussion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2026-05-24T08:46:48Z</dcterms:created>
  <dcterms:modified xsi:type="dcterms:W3CDTF">2026-05-24T08:46:48Z</dcterms:modified>
</cp:coreProperties>
</file>